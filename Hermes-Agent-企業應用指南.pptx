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14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D8A8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097280"/>
            <a:ext cx="8412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200" b="1" dirty="0">
                <a:solidFill>
                  <a:srgbClr val="C8E6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Hermes Agent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365760" y="2011680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企業應用指南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365760" y="315468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i="1" dirty="0">
                <a:solidFill>
                  <a:srgbClr val="0D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從個人工具到企業級 AI 協作平台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65760" y="461772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B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基於 NousResearch Vault 知識庫整理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772400" y="4114800"/>
            <a:ext cx="1371600" cy="73152"/>
          </a:xfrm>
          <a:prstGeom prst="rect">
            <a:avLst/>
          </a:prstGeom>
          <a:solidFill>
            <a:srgbClr val="0D8A8A"/>
          </a:solidFill>
          <a:ln/>
        </p:spPr>
      </p:sp>
      <p:sp>
        <p:nvSpPr>
          <p:cNvPr id="8" name="Shape 6"/>
          <p:cNvSpPr/>
          <p:nvPr/>
        </p:nvSpPr>
        <p:spPr>
          <a:xfrm>
            <a:off x="7772400" y="4297680"/>
            <a:ext cx="914400" cy="73152"/>
          </a:xfrm>
          <a:prstGeom prst="rect">
            <a:avLst/>
          </a:prstGeom>
          <a:solidFill>
            <a:srgbClr val="1A4A7A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8A8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8E6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什麼是 Hermes Agent？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502920" cy="502920"/>
          </a:xfrm>
          <a:prstGeom prst="ellipse">
            <a:avLst/>
          </a:prstGeom>
          <a:solidFill>
            <a:srgbClr val="0D8A8A"/>
          </a:solidFill>
          <a:ln w="12700">
            <a:solidFill>
              <a:srgbClr val="0D8A8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0972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005840" y="105156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0C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開源自主 AI 代理框架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05840" y="135331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NousResearch 出品，GitHub 開源，持續迭代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1993392"/>
            <a:ext cx="502920" cy="502920"/>
          </a:xfrm>
          <a:prstGeom prst="ellipse">
            <a:avLst/>
          </a:prstGeom>
          <a:solidFill>
            <a:srgbClr val="0D8A8A"/>
          </a:solidFill>
          <a:ln w="12700">
            <a:solidFill>
              <a:srgbClr val="0D8A8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9933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005840" y="194767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0C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一行指令即可安裝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005840" y="2249424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支援 macOS / Linux / WSL2，curl 安裝完成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2889504"/>
            <a:ext cx="502920" cy="502920"/>
          </a:xfrm>
          <a:prstGeom prst="ellipse">
            <a:avLst/>
          </a:prstGeom>
          <a:solidFill>
            <a:srgbClr val="0D8A8A"/>
          </a:solidFill>
          <a:ln w="12700">
            <a:solidFill>
              <a:srgbClr val="0D8A8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288950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🔌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005840" y="2843784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0C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16+ LLM 供應商內建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005840" y="3145536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OpenAI、Anthropic、DeepSeek、Qwen、Gemini 等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65760" y="3785616"/>
            <a:ext cx="502920" cy="502920"/>
          </a:xfrm>
          <a:prstGeom prst="ellipse">
            <a:avLst/>
          </a:prstGeom>
          <a:solidFill>
            <a:srgbClr val="0D8A8A"/>
          </a:solidFill>
          <a:ln w="12700">
            <a:solidFill>
              <a:srgbClr val="0D8A8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78561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🌱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005840" y="3739896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0C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核心理念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005840" y="404164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that grows with you — 與你共同成長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166360" y="960120"/>
            <a:ext cx="3749040" cy="3474720"/>
          </a:xfrm>
          <a:prstGeom prst="rect">
            <a:avLst/>
          </a:prstGeom>
          <a:solidFill>
            <a:srgbClr val="0A0F1A"/>
          </a:solidFill>
          <a:ln w="12700">
            <a:solidFill>
              <a:srgbClr val="0D8A8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349240" y="109728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8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一行安裝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349240" y="1417320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C0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curl -fsSL https://raw.githubusercontent.com/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0C0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NousResearch/hermes-agent/main/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0C0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scripts/install.sh | bash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349240" y="237744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8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啟動對話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349240" y="269748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hermes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5349240" y="315468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8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配置模型供應商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349240" y="347472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hermes setup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8A8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8E6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企業導入四大優勢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20040" y="1005840"/>
            <a:ext cx="4023360" cy="1691640"/>
          </a:xfrm>
          <a:prstGeom prst="rect">
            <a:avLst/>
          </a:prstGeom>
          <a:solidFill>
            <a:srgbClr val="1A4A7A"/>
          </a:solidFill>
          <a:ln w="12700">
            <a:solidFill>
              <a:srgbClr val="0D8A8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9728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8A8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097280" y="1097280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0C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多模型路由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97280" y="1426464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Auxiliary 副駕系統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182880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不同任務自動分配最合適的模型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降低 LLM 成本 30–50%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09160" y="1005840"/>
            <a:ext cx="4023360" cy="1691640"/>
          </a:xfrm>
          <a:prstGeom prst="rect">
            <a:avLst/>
          </a:prstGeom>
          <a:solidFill>
            <a:srgbClr val="1A4A7A"/>
          </a:solidFill>
          <a:ln w="12700">
            <a:solidFill>
              <a:srgbClr val="0D8A8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46320" y="109728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8A8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5486400" y="1097280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0C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自我學習迴路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486400" y="1426464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自動固化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846320" y="182880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重複操作自動轉為永久技能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效率持續提升，無需人工維護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20040" y="2880360"/>
            <a:ext cx="4023360" cy="1691640"/>
          </a:xfrm>
          <a:prstGeom prst="rect">
            <a:avLst/>
          </a:prstGeom>
          <a:solidFill>
            <a:srgbClr val="1A4A7A"/>
          </a:solidFill>
          <a:ln w="12700">
            <a:solidFill>
              <a:srgbClr val="0D8A8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297180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8A8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1097280" y="2971800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0C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多代理隔離架構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097280" y="3300984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Profiles 系統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" y="370332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不同職能角色獨立記憶與配置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完全避免上下文汙染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709160" y="2880360"/>
            <a:ext cx="4023360" cy="1691640"/>
          </a:xfrm>
          <a:prstGeom prst="rect">
            <a:avLst/>
          </a:prstGeom>
          <a:solidFill>
            <a:srgbClr val="1A4A7A"/>
          </a:solidFill>
          <a:ln w="12700">
            <a:solidFill>
              <a:srgbClr val="0D8A8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46320" y="297180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8A8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5486400" y="2971800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0C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A2A 協議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5486400" y="3300984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跨機器協作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846320" y="370332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介面連接任意 Agent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建立企業 Agent 協作生態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8A8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8E6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Auxiliary 副駕路由系統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D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主模型專注思考，副模型處理瑣事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8412480" cy="457200"/>
          </a:xfrm>
          <a:prstGeom prst="rect">
            <a:avLst/>
          </a:prstGeom>
          <a:solidFill>
            <a:srgbClr val="0D8A8A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197864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14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任務類型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200400" y="1197864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14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說明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943600" y="1197864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14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效益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65760" y="1627632"/>
            <a:ext cx="8412480" cy="457200"/>
          </a:xfrm>
          <a:prstGeom prst="rect">
            <a:avLst/>
          </a:prstGeom>
          <a:solidFill>
            <a:srgbClr val="12204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682496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C0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vision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200400" y="1682496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截圖 / 圖片分析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943600" y="1682496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省主模型視覺成本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2112264"/>
            <a:ext cx="8412480" cy="457200"/>
          </a:xfrm>
          <a:prstGeom prst="rect">
            <a:avLst/>
          </a:prstGeom>
          <a:solidFill>
            <a:srgbClr val="1A4A7A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2167128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C0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web_extract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200400" y="2167128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網頁內容抓取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943600" y="2167128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不佔用主模型頻寬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65760" y="2596896"/>
            <a:ext cx="8412480" cy="457200"/>
          </a:xfrm>
          <a:prstGeom prst="rect">
            <a:avLst/>
          </a:prstGeom>
          <a:solidFill>
            <a:srgbClr val="12204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265176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C0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compression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200400" y="265176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上下文壓縮摘要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943600" y="265176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延長有效對話長度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65760" y="3081528"/>
            <a:ext cx="8412480" cy="457200"/>
          </a:xfrm>
          <a:prstGeom prst="rect">
            <a:avLst/>
          </a:prstGeom>
          <a:solidFill>
            <a:srgbClr val="1A4A7A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3136392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C0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session_search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200400" y="3136392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歷史對話搜索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943600" y="3136392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FTS5 快速檢索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65760" y="3566160"/>
            <a:ext cx="8412480" cy="457200"/>
          </a:xfrm>
          <a:prstGeom prst="rect">
            <a:avLst/>
          </a:prstGeom>
          <a:solidFill>
            <a:srgbClr val="12204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3621024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C0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approval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3200400" y="3621024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高危命令審批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943600" y="3621024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安全合規控制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365760" y="4050792"/>
            <a:ext cx="8412480" cy="457200"/>
          </a:xfrm>
          <a:prstGeom prst="rect">
            <a:avLst/>
          </a:prstGeom>
          <a:solidFill>
            <a:srgbClr val="1A4A7A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" y="4105656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C0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skills_hub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3200400" y="4105656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技能市場輔助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943600" y="4105656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自動發現並安裝技能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365760" y="4663440"/>
            <a:ext cx="8412480" cy="320040"/>
          </a:xfrm>
          <a:prstGeom prst="rect">
            <a:avLst/>
          </a:prstGeom>
          <a:solidFill>
            <a:srgbClr val="0D8A8A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7200" y="46908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614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整體 LLM 成本可降低 30–50%，主模型專注核心推理任務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8A8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8E6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三層記憶系統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20040" y="960120"/>
            <a:ext cx="8503920" cy="1207008"/>
          </a:xfrm>
          <a:prstGeom prst="rect">
            <a:avLst/>
          </a:prstGeom>
          <a:solidFill>
            <a:srgbClr val="0D8A8A"/>
          </a:solidFill>
          <a:ln w="12700">
            <a:solidFill>
              <a:srgbClr val="0D8A8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1014984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0C0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005840" y="1014984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內建記憶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05840" y="1463040"/>
            <a:ext cx="7406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MEMORY.md — 環境事實、專案慣例、踩坑記錄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05840" y="1700784"/>
            <a:ext cx="7406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USER.md — 用戶偏好、溝通風格、工作習慣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05840" y="1938528"/>
            <a:ext cx="7406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nudge_interval = 10 輪自動提醒存檔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0040" y="2286000"/>
            <a:ext cx="8503920" cy="1207008"/>
          </a:xfrm>
          <a:prstGeom prst="rect">
            <a:avLst/>
          </a:prstGeom>
          <a:solidFill>
            <a:srgbClr val="1A4A7A"/>
          </a:solidFill>
          <a:ln w="12700">
            <a:solidFill>
              <a:srgbClr val="0D8A8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2340864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0C0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005840" y="2340864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外部 Memory Provider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05840" y="2788920"/>
            <a:ext cx="7406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支援 mem0、8 大插件可選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05840" y="3026664"/>
            <a:ext cx="7406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企業可接自建向量庫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05840" y="3264408"/>
            <a:ext cx="7406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每輪對話至少 2 次 API 同步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20040" y="3611880"/>
            <a:ext cx="8503920" cy="1207008"/>
          </a:xfrm>
          <a:prstGeom prst="rect">
            <a:avLst/>
          </a:prstGeom>
          <a:solidFill>
            <a:srgbClr val="1A3A5C"/>
          </a:solidFill>
          <a:ln w="12700">
            <a:solidFill>
              <a:srgbClr val="0D8A8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" y="3666744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0C0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005840" y="3666744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Search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005840" y="4114800"/>
            <a:ext cx="7406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SQLite FTS5 全文檢索，歷史永不遺失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005840" y="4352544"/>
            <a:ext cx="7406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query 為空 → 返回最近 session 列表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005840" y="4590288"/>
            <a:ext cx="7406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LLM 掛掉時自動降級回傳原文 500 字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65760" y="4818888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自動壓縮：依模型 context window 動態調整 — 1M token 模型最多分配 50K 給摘要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8A8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8E6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多代理團隊架構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D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從單一全能 AI → 分工明確的 AI 團隊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20040" y="1143000"/>
            <a:ext cx="1965960" cy="2560320"/>
          </a:xfrm>
          <a:prstGeom prst="rect">
            <a:avLst/>
          </a:prstGeom>
          <a:solidFill>
            <a:srgbClr val="1A4A7A"/>
          </a:solidFill>
          <a:ln w="12700">
            <a:solidFill>
              <a:srgbClr val="0D8A8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1307592"/>
            <a:ext cx="960120" cy="960120"/>
          </a:xfrm>
          <a:prstGeom prst="ellipse">
            <a:avLst/>
          </a:prstGeom>
          <a:solidFill>
            <a:srgbClr val="0D8A8A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307592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🧭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320040" y="2350008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0C0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Hermes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20040" y="2660904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D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協調員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11480" y="2935224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規劃、分解任務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排序、最終整合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468880" y="1143000"/>
            <a:ext cx="1965960" cy="2560320"/>
          </a:xfrm>
          <a:prstGeom prst="rect">
            <a:avLst/>
          </a:prstGeom>
          <a:solidFill>
            <a:srgbClr val="1A4A7A"/>
          </a:solidFill>
          <a:ln w="12700">
            <a:solidFill>
              <a:srgbClr val="0D8A8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971800" y="1307592"/>
            <a:ext cx="960120" cy="960120"/>
          </a:xfrm>
          <a:prstGeom prst="ellipse">
            <a:avLst/>
          </a:prstGeom>
          <a:solidFill>
            <a:srgbClr val="0D8A8A"/>
          </a:solidFill>
          <a:ln/>
        </p:spPr>
      </p:sp>
      <p:sp>
        <p:nvSpPr>
          <p:cNvPr id="13" name="Text 11"/>
          <p:cNvSpPr/>
          <p:nvPr/>
        </p:nvSpPr>
        <p:spPr>
          <a:xfrm>
            <a:off x="2971800" y="1307592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🔬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2468880" y="2350008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0C0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Alan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2468880" y="2660904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D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研究員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560320" y="2935224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資料搜集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事實核查、知識整理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617720" y="1143000"/>
            <a:ext cx="1965960" cy="2560320"/>
          </a:xfrm>
          <a:prstGeom prst="rect">
            <a:avLst/>
          </a:prstGeom>
          <a:solidFill>
            <a:srgbClr val="1A4A7A"/>
          </a:solidFill>
          <a:ln w="12700">
            <a:solidFill>
              <a:srgbClr val="0D8A8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120640" y="1307592"/>
            <a:ext cx="960120" cy="960120"/>
          </a:xfrm>
          <a:prstGeom prst="ellipse">
            <a:avLst/>
          </a:prstGeom>
          <a:solidFill>
            <a:srgbClr val="0D8A8A"/>
          </a:solidFill>
          <a:ln/>
        </p:spPr>
      </p:sp>
      <p:sp>
        <p:nvSpPr>
          <p:cNvPr id="19" name="Text 17"/>
          <p:cNvSpPr/>
          <p:nvPr/>
        </p:nvSpPr>
        <p:spPr>
          <a:xfrm>
            <a:off x="5120640" y="1307592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✍️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4617720" y="2350008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0C0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Mira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617720" y="2660904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D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敘事架構師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709160" y="2935224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文件撰寫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溝通優化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766560" y="1143000"/>
            <a:ext cx="1965960" cy="2560320"/>
          </a:xfrm>
          <a:prstGeom prst="rect">
            <a:avLst/>
          </a:prstGeom>
          <a:solidFill>
            <a:srgbClr val="1A4A7A"/>
          </a:solidFill>
          <a:ln w="12700">
            <a:solidFill>
              <a:srgbClr val="0D8A8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269480" y="1307592"/>
            <a:ext cx="960120" cy="960120"/>
          </a:xfrm>
          <a:prstGeom prst="ellipse">
            <a:avLst/>
          </a:prstGeom>
          <a:solidFill>
            <a:srgbClr val="0D8A8A"/>
          </a:solidFill>
          <a:ln/>
        </p:spPr>
      </p:sp>
      <p:sp>
        <p:nvSpPr>
          <p:cNvPr id="25" name="Text 23"/>
          <p:cNvSpPr/>
          <p:nvPr/>
        </p:nvSpPr>
        <p:spPr>
          <a:xfrm>
            <a:off x="7269480" y="1307592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⚙️</a:t>
            </a:r>
            <a:endParaRPr lang="en-US" sz="3000" dirty="0"/>
          </a:p>
        </p:txBody>
      </p:sp>
      <p:sp>
        <p:nvSpPr>
          <p:cNvPr id="26" name="Text 24"/>
          <p:cNvSpPr/>
          <p:nvPr/>
        </p:nvSpPr>
        <p:spPr>
          <a:xfrm>
            <a:off x="6766560" y="2350008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0C0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Turing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766560" y="2660904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D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系統工程師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858000" y="2935224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調試、部署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技術實作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20040" y="3840480"/>
            <a:ext cx="8503920" cy="457200"/>
          </a:xfrm>
          <a:prstGeom prst="rect">
            <a:avLst/>
          </a:prstGeom>
          <a:solidFill>
            <a:srgbClr val="0A1628"/>
          </a:solidFill>
          <a:ln w="12700">
            <a:solidFill>
              <a:srgbClr val="0D8A8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" y="391363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每個 Profile 完全隔離：記憶、技能、個性、Session、Gateway 行為各自獨立，角色不相互汙染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8A8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8E6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A2A 跨機器協作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D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透過 Google A2A 協議實現企業級 Agent 網絡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20040" y="1097280"/>
            <a:ext cx="4114800" cy="2834640"/>
          </a:xfrm>
          <a:prstGeom prst="rect">
            <a:avLst/>
          </a:prstGeom>
          <a:solidFill>
            <a:srgbClr val="0A0F1A"/>
          </a:solidFill>
          <a:ln w="12700">
            <a:solidFill>
              <a:srgbClr val="0D8A8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18872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標準 A2A 端點（50 行 Python）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572768"/>
            <a:ext cx="3840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C0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 /.well-known/agent.json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1819656"/>
            <a:ext cx="3840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AA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→ 代理自我描述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2066544"/>
            <a:ext cx="3840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2313432"/>
            <a:ext cx="3840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C0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/tasks/send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2560320"/>
            <a:ext cx="3840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AA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→ 接收並執行任務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2807208"/>
            <a:ext cx="3840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3054096"/>
            <a:ext cx="3840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C0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 /tasks/{id}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3300984"/>
            <a:ext cx="3840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AA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→ 查詢執行進度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709160" y="1097280"/>
            <a:ext cx="4114800" cy="841248"/>
          </a:xfrm>
          <a:prstGeom prst="rect">
            <a:avLst/>
          </a:prstGeom>
          <a:solidFill>
            <a:srgbClr val="1A4A7A"/>
          </a:solidFill>
          <a:ln w="12700">
            <a:solidFill>
              <a:srgbClr val="0D8A8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00600" y="1234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🏢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5394960" y="1170432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跨部門 Agent 協作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財務 Agent 呼叫 IT Agent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709160" y="2057400"/>
            <a:ext cx="4114800" cy="841248"/>
          </a:xfrm>
          <a:prstGeom prst="rect">
            <a:avLst/>
          </a:prstGeom>
          <a:solidFill>
            <a:srgbClr val="1A4A7A"/>
          </a:solidFill>
          <a:ln w="12700">
            <a:solidFill>
              <a:srgbClr val="0D8A8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00600" y="2194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☁️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5394960" y="2130552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雲端 + 本機混合部署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反向隧道無縫串接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709160" y="3017520"/>
            <a:ext cx="4114800" cy="841248"/>
          </a:xfrm>
          <a:prstGeom prst="rect">
            <a:avLst/>
          </a:prstGeom>
          <a:solidFill>
            <a:srgbClr val="1A4A7A"/>
          </a:solidFill>
          <a:ln w="12700">
            <a:solidFill>
              <a:srgbClr val="0D8A8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00600" y="3154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🔗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5394960" y="3090672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跨語言 / 框架互通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任何 AI CLI 50 行接入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8A8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8E6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安全性設計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20040" y="1005840"/>
            <a:ext cx="8503920" cy="822960"/>
          </a:xfrm>
          <a:prstGeom prst="rect">
            <a:avLst/>
          </a:prstGeom>
          <a:solidFill>
            <a:srgbClr val="1A4A7A"/>
          </a:solidFill>
          <a:ln w="12700">
            <a:solidFill>
              <a:srgbClr val="0D8A8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143000"/>
            <a:ext cx="548640" cy="548640"/>
          </a:xfrm>
          <a:prstGeom prst="ellipse">
            <a:avLst/>
          </a:prstGeom>
          <a:solidFill>
            <a:srgbClr val="0D8A8A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1430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🛡️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143000" y="1078992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0C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高危命令自動識別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143000" y="1417320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執行前強制授權，比 OpenClaw 更精準，不會誤觸正常指令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0040" y="1965960"/>
            <a:ext cx="8503920" cy="822960"/>
          </a:xfrm>
          <a:prstGeom prst="rect">
            <a:avLst/>
          </a:prstGeom>
          <a:solidFill>
            <a:srgbClr val="1A4A7A"/>
          </a:solidFill>
          <a:ln w="12700">
            <a:solidFill>
              <a:srgbClr val="0D8A8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2103120"/>
            <a:ext cx="548640" cy="548640"/>
          </a:xfrm>
          <a:prstGeom prst="ellipse">
            <a:avLst/>
          </a:prstGeom>
          <a:solidFill>
            <a:srgbClr val="0D8A8A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21031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🐳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143000" y="2039112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0C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沙盒隔離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143000" y="2377440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 -rf 等危險命令在容器內執行，宿主機完全不受影響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20040" y="2926080"/>
            <a:ext cx="8503920" cy="822960"/>
          </a:xfrm>
          <a:prstGeom prst="rect">
            <a:avLst/>
          </a:prstGeom>
          <a:solidFill>
            <a:srgbClr val="1A4A7A"/>
          </a:solidFill>
          <a:ln w="12700">
            <a:solidFill>
              <a:srgbClr val="0D8A8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3063240"/>
            <a:ext cx="548640" cy="548640"/>
          </a:xfrm>
          <a:prstGeom prst="ellipse">
            <a:avLst/>
          </a:prstGeom>
          <a:solidFill>
            <a:srgbClr val="0D8A8A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30632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📋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143000" y="2999232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0C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Gateway Hooks 審計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143000" y="3337560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每次終端命令自動記錄：內容、結果、時間戳、Session ID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20040" y="3886200"/>
            <a:ext cx="8503920" cy="822960"/>
          </a:xfrm>
          <a:prstGeom prst="rect">
            <a:avLst/>
          </a:prstGeom>
          <a:solidFill>
            <a:srgbClr val="1A4A7A"/>
          </a:solidFill>
          <a:ln w="12700">
            <a:solidFill>
              <a:srgbClr val="0D8A8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" y="4023360"/>
            <a:ext cx="548640" cy="548640"/>
          </a:xfrm>
          <a:prstGeom prst="ellipse">
            <a:avLst/>
          </a:prstGeom>
          <a:solidFill>
            <a:srgbClr val="0D8A8A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40233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🔐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1143000" y="3959352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0C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配置解耦設計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143000" y="4297680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.env 密鑰與 config.yaml 分開，敏感資訊不進版控，YAML 格式更易讀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8A8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8E6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企業導入建議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20040" y="960120"/>
            <a:ext cx="594360" cy="685800"/>
          </a:xfrm>
          <a:prstGeom prst="rect">
            <a:avLst/>
          </a:prstGeom>
          <a:solidFill>
            <a:srgbClr val="0D8A8A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1033272"/>
            <a:ext cx="59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614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005840" y="960120"/>
            <a:ext cx="7818120" cy="685800"/>
          </a:xfrm>
          <a:prstGeom prst="rect">
            <a:avLst/>
          </a:prstGeom>
          <a:solidFill>
            <a:srgbClr val="1A4A7A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43000" y="101498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C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安裝並配置主力模型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846320" y="1014984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8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hermes setup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143000" y="1307592"/>
            <a:ext cx="7406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互動式完成 LLM 供應商與 API Key 設定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0040" y="1755648"/>
            <a:ext cx="594360" cy="685800"/>
          </a:xfrm>
          <a:prstGeom prst="rect">
            <a:avLst/>
          </a:prstGeom>
          <a:solidFill>
            <a:srgbClr val="0D8A8A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" y="1828800"/>
            <a:ext cx="59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614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1005840" y="1755648"/>
            <a:ext cx="7818120" cy="685800"/>
          </a:xfrm>
          <a:prstGeom prst="rect">
            <a:avLst/>
          </a:prstGeom>
          <a:solidFill>
            <a:srgbClr val="12204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43000" y="181051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C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建立 SOUL.md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846320" y="181051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8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~/.hermes/SOUL.md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43000" y="2103120"/>
            <a:ext cx="7406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定義 AI 個性、企業行為規範與溝通風格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20040" y="2551176"/>
            <a:ext cx="594360" cy="685800"/>
          </a:xfrm>
          <a:prstGeom prst="rect">
            <a:avLst/>
          </a:prstGeom>
          <a:solidFill>
            <a:srgbClr val="0D8A8A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" y="2624328"/>
            <a:ext cx="59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614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1005840" y="2551176"/>
            <a:ext cx="7818120" cy="685800"/>
          </a:xfrm>
          <a:prstGeom prst="rect">
            <a:avLst/>
          </a:prstGeom>
          <a:solidFill>
            <a:srgbClr val="1A4A7A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143000" y="2606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C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配置 Auxiliary 副駕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846320" y="26060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8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hermes config set aux.*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143000" y="2898648"/>
            <a:ext cx="7406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為 vision、compression 等指定低成本模型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20040" y="3346704"/>
            <a:ext cx="594360" cy="685800"/>
          </a:xfrm>
          <a:prstGeom prst="rect">
            <a:avLst/>
          </a:prstGeom>
          <a:solidFill>
            <a:srgbClr val="0D8A8A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0040" y="3419856"/>
            <a:ext cx="59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614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1005840" y="3346704"/>
            <a:ext cx="7818120" cy="685800"/>
          </a:xfrm>
          <a:prstGeom prst="rect">
            <a:avLst/>
          </a:prstGeom>
          <a:solidFill>
            <a:srgbClr val="12204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143000" y="34015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C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建立角色化 Profiles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4846320" y="340156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8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hermes profile create ...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143000" y="3694176"/>
            <a:ext cx="7406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協調員、研究員、工程師各自獨立環境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320040" y="4142232"/>
            <a:ext cx="594360" cy="685800"/>
          </a:xfrm>
          <a:prstGeom prst="rect">
            <a:avLst/>
          </a:prstGeom>
          <a:solidFill>
            <a:srgbClr val="0D8A8A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20040" y="4215384"/>
            <a:ext cx="59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614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05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1005840" y="4142232"/>
            <a:ext cx="7818120" cy="685800"/>
          </a:xfrm>
          <a:prstGeom prst="rect">
            <a:avLst/>
          </a:prstGeom>
          <a:solidFill>
            <a:srgbClr val="1A4A7A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143000" y="419709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C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啟用沙盒 + 審計 Hook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4846320" y="4197096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8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terminal.backend docker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1143000" y="4489704"/>
            <a:ext cx="7406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隔離 + Gateway Hook 確保合規可追蹤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614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D8A8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0292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C8E6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Hermes Agent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365760" y="1115568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0D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不只是工具，是可成長的企業 AI 基礎設施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365760" y="1691640"/>
            <a:ext cx="1920240" cy="475488"/>
          </a:xfrm>
          <a:prstGeom prst="rect">
            <a:avLst/>
          </a:prstGeom>
          <a:solidFill>
            <a:srgbClr val="0D8A8A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691640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614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自我學習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468880" y="1691640"/>
            <a:ext cx="1920240" cy="475488"/>
          </a:xfrm>
          <a:prstGeom prst="rect">
            <a:avLst/>
          </a:prstGeom>
          <a:solidFill>
            <a:srgbClr val="0D8A8A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468880" y="1691640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614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多代理協作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0" y="1691640"/>
            <a:ext cx="1920240" cy="475488"/>
          </a:xfrm>
          <a:prstGeom prst="rect">
            <a:avLst/>
          </a:prstGeom>
          <a:solidFill>
            <a:srgbClr val="0D8A8A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0" y="1691640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614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成本可控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675120" y="1691640"/>
            <a:ext cx="1920240" cy="475488"/>
          </a:xfrm>
          <a:prstGeom prst="rect">
            <a:avLst/>
          </a:prstGeom>
          <a:solidFill>
            <a:srgbClr val="0D8A8A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75120" y="1691640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614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安全合規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65760" y="237744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推薦生態組合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65760" y="27889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🦊  Camofox — 反爬瀏覽器環境（自動操作網頁）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65760" y="313639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  mem0 — 外部記憶 Provider（企業知識持久化）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65760" y="3483864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 A2A 協議 — 跨機器 Agent 協作網絡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20040" y="4297680"/>
            <a:ext cx="8503920" cy="594360"/>
          </a:xfrm>
          <a:prstGeom prst="rect">
            <a:avLst/>
          </a:prstGeom>
          <a:solidFill>
            <a:srgbClr val="1A4A7A"/>
          </a:solidFill>
          <a:ln w="12700">
            <a:solidFill>
              <a:srgbClr val="0D8A8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438912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D8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🌐  github.com/NousResearch/hermes-agent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Hermes Agent 企業應用指南</dc:title>
  <dc:subject>PptxGenJS Presentation</dc:subject>
  <dc:creator>ObsBot Vault</dc:creator>
  <cp:lastModifiedBy>ObsBot Vault</cp:lastModifiedBy>
  <cp:revision>1</cp:revision>
  <dcterms:created xsi:type="dcterms:W3CDTF">2026-04-14T12:39:06Z</dcterms:created>
  <dcterms:modified xsi:type="dcterms:W3CDTF">2026-04-14T12:39:06Z</dcterms:modified>
</cp:coreProperties>
</file>